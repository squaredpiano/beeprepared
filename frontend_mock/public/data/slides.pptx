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we delve into Stoicism, not as an academic subject, but as a practical framework for life. Despite its age, it offers profound tools for building resilience in our chaotic world.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Zeno's story proves that adversity often lays the groundwork for great insight. He turned absolute material loss into intellectual and philosophical gain. This acceptance of fate is central to the Stoic journey.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Stoics believed that if you have your character, you have everything. If you lack character, nothing external can truly satisfy you. This focus on internal improvement is why Stoicism remains so powerful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part of a larger whole. If we understand that everything happens for a reason within this rational structure, we stop fighting reality. This recognition transforms events from personal tragedies into logical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Epictetus taught that we should direct 100% of our effort towards the things we control—our intentions and efforts—and accept everything else. This radically minimizes anxiety and frees up emotional energy.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virtues are not recommendations; they are mandatory for a flourishing life. They provide the moral blueprint for every decision we make. They are the means by which we practice self-control and acceptance.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world of constant stimulation, Temperance is perhaps the hardest virtue to master. It protects us from becoming slaves to our desires. Wisdom ensures that our actions are not only virtuous but also effective.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Stoicism is often mistakenly viewed as passive. In fact, it's highly active. Seneca, for example, argued fervently for humane treatment, even towards slaves, emphasizing shared humanity. Courage is required to live justly when it is unpopular.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diversity of these figures underscores the universal accessibility of the philosophy. Epictetus proved that true freedom is internal. Seneca showed that even those in power must constantly strive for ethical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Aurelius is the ultimate example of Stoicism in action. He wasn't meditating in seclusion; he was leading an empire during turmoil. That his philosophy helped Mandela endure injustice highlights its enduring power to instill dignity.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your therapist asks you to reframe a situation, they are essentially utilizing Stoic techniques. The idea that we can manage emotional distress by changing our perspective is one of Stoicism's greatest gifts to the modern world.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aim for perfection; aim for consistency. Stoicism is a lifelong journey of self-mastery. Start small: for the next week, simply pay attention to where you are wasting energy trying to control something external.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Introduction to Stoicism</a:t>
            </a:r>
          </a:p>
        </p:txBody>
      </p:sp>
      <p:sp>
        <p:nvSpPr>
          <p:cNvPr id="3" name="Subtitle 2"/>
          <p:cNvSpPr>
            <a:spLocks noGrp="1"/>
          </p:cNvSpPr>
          <p:nvPr>
            <p:ph type="subTitle" idx="1"/>
          </p:nvPr>
        </p:nvSpPr>
        <p:spPr/>
        <p:txBody>
          <a:bodyPr/>
          <a:lstStyle/>
          <a:p>
            <a:r>
              <a:t>Audience: Beginner/Intermediate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to Inner Resilience: An Introduction to Stoicism</a:t>
            </a:r>
          </a:p>
        </p:txBody>
      </p:sp>
      <p:sp>
        <p:nvSpPr>
          <p:cNvPr id="3" name="Content Placeholder 2"/>
          <p:cNvSpPr>
            <a:spLocks noGrp="1"/>
          </p:cNvSpPr>
          <p:nvPr>
            <p:ph idx="1"/>
          </p:nvPr>
        </p:nvSpPr>
        <p:spPr/>
        <p:txBody>
          <a:bodyPr/>
          <a:lstStyle/>
          <a:p>
            <a:r>
              <a:t>Stoicism is an ancient, practical philosophy focusing on achieving tranquility through self-control and acceptance.</a:t>
            </a:r>
          </a:p>
          <a:p>
            <a:pPr lvl="1"/>
            <a:r>
              <a:t>Explore principles established over 2,300 years ago.</a:t>
            </a:r>
          </a:p>
          <a:p>
            <a:pPr lvl="1"/>
            <a:r>
              <a:t>Learn methods for managing modern stress and uncertainty.</a:t>
            </a:r>
          </a:p>
          <a:p>
            <a:pPr lvl="1"/>
            <a:r>
              <a:t>Understand the distinction between what we can and cannot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Origin Story: From Shipwreck to Stoa</a:t>
            </a:r>
          </a:p>
        </p:txBody>
      </p:sp>
      <p:sp>
        <p:nvSpPr>
          <p:cNvPr id="3" name="Content Placeholder 2"/>
          <p:cNvSpPr>
            <a:spLocks noGrp="1"/>
          </p:cNvSpPr>
          <p:nvPr>
            <p:ph idx="1"/>
          </p:nvPr>
        </p:nvSpPr>
        <p:spPr/>
        <p:txBody>
          <a:bodyPr/>
          <a:lstStyle/>
          <a:p>
            <a:r>
              <a:t>Stoicism was founded by Zeno of Cyprus, whose personal disaster led him to philosophy and teaching in Athens.</a:t>
            </a:r>
          </a:p>
          <a:p>
            <a:pPr lvl="1"/>
            <a:r>
              <a:t>Zeno lost his wealth in a shipwreck near Athens around 300 BCE.</a:t>
            </a:r>
          </a:p>
          <a:p>
            <a:pPr lvl="1"/>
            <a:r>
              <a:t>Instead of despair, he sought wisdom after reading about Socrates.</a:t>
            </a:r>
          </a:p>
          <a:p>
            <a:pPr lvl="1"/>
            <a:r>
              <a:t>The philosophy is named after the 'Stoa Poikile,' the painted colonnade where Zeno taught publicly.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Philosophy: The Pursuit of Virtue</a:t>
            </a:r>
          </a:p>
        </p:txBody>
      </p:sp>
      <p:sp>
        <p:nvSpPr>
          <p:cNvPr id="3" name="Content Placeholder 2"/>
          <p:cNvSpPr>
            <a:spLocks noGrp="1"/>
          </p:cNvSpPr>
          <p:nvPr>
            <p:ph idx="1"/>
          </p:nvPr>
        </p:nvSpPr>
        <p:spPr/>
        <p:txBody>
          <a:bodyPr/>
          <a:lstStyle/>
          <a:p>
            <a:r>
              <a:t>The fundamental goal of Stoicism is Eudaimonia (flourishing) achieved solely through cultivating virtue.</a:t>
            </a:r>
          </a:p>
          <a:p>
            <a:pPr lvl="1"/>
            <a:r>
              <a:t>Stoicism emphasizes virtue, tolerance, and self-control as the only true 'good'.</a:t>
            </a:r>
          </a:p>
          <a:p>
            <a:pPr lvl="1"/>
            <a:r>
              <a:t>External things (wealth, health, reputation) are morally neutral.</a:t>
            </a:r>
          </a:p>
          <a:p>
            <a:pPr lvl="1"/>
            <a:r>
              <a:t>Inner peace, or 'Ataraxia' (tranquility), results from rational living.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Rational Universe: Understanding Logos</a:t>
            </a:r>
          </a:p>
        </p:txBody>
      </p:sp>
      <p:sp>
        <p:nvSpPr>
          <p:cNvPr id="3" name="Content Placeholder 2"/>
          <p:cNvSpPr>
            <a:spLocks noGrp="1"/>
          </p:cNvSpPr>
          <p:nvPr>
            <p:ph idx="1"/>
          </p:nvPr>
        </p:nvSpPr>
        <p:spPr/>
        <p:txBody>
          <a:bodyPr/>
          <a:lstStyle/>
          <a:p>
            <a:r>
              <a:t>Stoics believed in a rational cosmic structure, Logos, which dictates cause, effect, and the interconnected nature of all events.</a:t>
            </a:r>
          </a:p>
          <a:p>
            <a:pPr lvl="1"/>
            <a:r>
              <a:t>Logos is the underlying, rational order of the universe.</a:t>
            </a:r>
          </a:p>
          <a:p>
            <a:pPr lvl="1"/>
            <a:r>
              <a:t>Living 'in accordance with nature' means aligning our reasoning with this universal structure.</a:t>
            </a:r>
          </a:p>
          <a:p>
            <a:pPr lvl="1"/>
            <a:r>
              <a:t>Understanding necessity helps us accept outcomes and eliminate emotional resistance.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Dichotomy of Control: Focus on the Inside</a:t>
            </a:r>
          </a:p>
        </p:txBody>
      </p:sp>
      <p:sp>
        <p:nvSpPr>
          <p:cNvPr id="3" name="Content Placeholder 2"/>
          <p:cNvSpPr>
            <a:spLocks noGrp="1"/>
          </p:cNvSpPr>
          <p:nvPr>
            <p:ph idx="1"/>
          </p:nvPr>
        </p:nvSpPr>
        <p:spPr/>
        <p:txBody>
          <a:bodyPr/>
          <a:lstStyle/>
          <a:p>
            <a:r>
              <a:t>The most crucial Stoic practice is clearly separating what is within our power from what is outside of it.</a:t>
            </a:r>
          </a:p>
          <a:p>
            <a:pPr lvl="1"/>
            <a:r>
              <a:t>We control: Our opinions, judgments, desires, and actions.</a:t>
            </a:r>
          </a:p>
          <a:p>
            <a:pPr lvl="1"/>
            <a:r>
              <a:t>We do not control: The weather, health, reputation, or other people's behavior.</a:t>
            </a:r>
          </a:p>
          <a:p>
            <a:pPr lvl="1"/>
            <a:r>
              <a:t>Misery results from trying to control the uncontrollable.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Four Cardinal Virtues: The Stoic Compass</a:t>
            </a:r>
          </a:p>
        </p:txBody>
      </p:sp>
      <p:sp>
        <p:nvSpPr>
          <p:cNvPr id="3" name="Content Placeholder 2"/>
          <p:cNvSpPr>
            <a:spLocks noGrp="1"/>
          </p:cNvSpPr>
          <p:nvPr>
            <p:ph idx="1"/>
          </p:nvPr>
        </p:nvSpPr>
        <p:spPr/>
        <p:txBody>
          <a:bodyPr/>
          <a:lstStyle/>
          <a:p>
            <a:r>
              <a:t>The foundation of Stoic ethics rests on four essential interconnected virtues.</a:t>
            </a:r>
          </a:p>
          <a:p>
            <a:pPr lvl="1"/>
            <a:r>
              <a:t>Practical Wisdom (Prudence): The ability to navigate complexity logically.</a:t>
            </a:r>
          </a:p>
          <a:p>
            <a:pPr lvl="1"/>
            <a:r>
              <a:t>Temperance (Moderation): Self-control over desires and impulses.</a:t>
            </a:r>
          </a:p>
          <a:p>
            <a:pPr lvl="1"/>
            <a:r>
              <a:t>Justice (Fairness): Treating others with equity and kindness.</a:t>
            </a:r>
          </a:p>
          <a:p>
            <a:pPr lvl="1"/>
            <a:r>
              <a:t>Courage (Fortitude): Facing challenges with integrity and clarity.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Wisdom and Temperance in Daily Life</a:t>
            </a:r>
          </a:p>
        </p:txBody>
      </p:sp>
      <p:sp>
        <p:nvSpPr>
          <p:cNvPr id="3" name="Content Placeholder 2"/>
          <p:cNvSpPr>
            <a:spLocks noGrp="1"/>
          </p:cNvSpPr>
          <p:nvPr>
            <p:ph idx="1"/>
          </p:nvPr>
        </p:nvSpPr>
        <p:spPr/>
        <p:txBody>
          <a:bodyPr/>
          <a:lstStyle/>
          <a:p>
            <a:r>
              <a:t>Practical Wisdom guides informed action, while Temperance ensures emotional and physical moderation.</a:t>
            </a:r>
          </a:p>
          <a:p>
            <a:pPr lvl="1"/>
            <a:r>
              <a:t>Practical Wisdom requires studying situations and applying knowledge, not just reacting impulsively.</a:t>
            </a:r>
          </a:p>
          <a:p>
            <a:pPr lvl="1"/>
            <a:r>
              <a:t>Temperance is the power to say 'no' to excess and harmful impulses.</a:t>
            </a:r>
          </a:p>
          <a:p>
            <a:pPr lvl="1"/>
            <a:r>
              <a:t>Cultivating moderation reduces vulnerability to external addictions and dependencies.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Justice and Courage: Active Engagement</a:t>
            </a:r>
          </a:p>
        </p:txBody>
      </p:sp>
      <p:sp>
        <p:nvSpPr>
          <p:cNvPr id="3" name="Content Placeholder 2"/>
          <p:cNvSpPr>
            <a:spLocks noGrp="1"/>
          </p:cNvSpPr>
          <p:nvPr>
            <p:ph idx="1"/>
          </p:nvPr>
        </p:nvSpPr>
        <p:spPr/>
        <p:txBody>
          <a:bodyPr/>
          <a:lstStyle/>
          <a:p>
            <a:r>
              <a:t>The Stoic must engage with the world justly and face adversity courageously.</a:t>
            </a:r>
          </a:p>
          <a:p>
            <a:pPr lvl="1"/>
            <a:r>
              <a:t>Justice requires humane treatment of all people, recognizing universal human connection.</a:t>
            </a:r>
          </a:p>
          <a:p>
            <a:pPr lvl="1"/>
            <a:r>
              <a:t>Courage is necessary not just in war, but in enduring daily hardships and criticism.</a:t>
            </a:r>
          </a:p>
          <a:p>
            <a:pPr lvl="1"/>
            <a:r>
              <a:t>Stoicism demands we act for the betterment of the community, not just for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Philosophers in Practice: The Roman Era</a:t>
            </a:r>
          </a:p>
        </p:txBody>
      </p:sp>
      <p:sp>
        <p:nvSpPr>
          <p:cNvPr id="3" name="Content Placeholder 2"/>
          <p:cNvSpPr>
            <a:spLocks noGrp="1"/>
          </p:cNvSpPr>
          <p:nvPr>
            <p:ph idx="1"/>
          </p:nvPr>
        </p:nvSpPr>
        <p:spPr/>
        <p:txBody>
          <a:bodyPr/>
          <a:lstStyle/>
          <a:p>
            <a:r>
              <a:t>Stoicism was practiced across all social strata, from slave to emperor.</a:t>
            </a:r>
          </a:p>
          <a:p>
            <a:pPr lvl="1"/>
            <a:r>
              <a:t>Epictetus (Slave/Teacher): Taught the power of perspective; suffering comes from our judgments, not external events.</a:t>
            </a:r>
          </a:p>
          <a:p>
            <a:pPr lvl="1"/>
            <a:r>
              <a:t>Seneca (Advisor/Writer): Advocated ethical self-improvement and wrote extensively on anger and grief.</a:t>
            </a:r>
          </a:p>
          <a:p>
            <a:pPr lvl="1"/>
            <a:r>
              <a:t>Their writings provide practical exercises for emotional regulation.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Stoic Emperor: Marcus Aurelius' Legacy</a:t>
            </a:r>
          </a:p>
        </p:txBody>
      </p:sp>
      <p:sp>
        <p:nvSpPr>
          <p:cNvPr id="3" name="Content Placeholder 2"/>
          <p:cNvSpPr>
            <a:spLocks noGrp="1"/>
          </p:cNvSpPr>
          <p:nvPr>
            <p:ph idx="1"/>
          </p:nvPr>
        </p:nvSpPr>
        <p:spPr/>
        <p:txBody>
          <a:bodyPr/>
          <a:lstStyle/>
          <a:p>
            <a:r>
              <a:t>Marcus Aurelius, the Roman Emperor, used Stoicism as a guide during periods of immense political and personal crises.</a:t>
            </a:r>
          </a:p>
          <a:p>
            <a:pPr lvl="1"/>
            <a:r>
              <a:t>Authored 'Meditations' as personal notes for self-improvement during wars and plague.</a:t>
            </a:r>
          </a:p>
          <a:p>
            <a:pPr lvl="1"/>
            <a:r>
              <a:t>Used Stoic rationality to manage grief over personal losses and imperial duties.</a:t>
            </a:r>
          </a:p>
          <a:p>
            <a:pPr lvl="1"/>
            <a:r>
              <a:t>His journals provided Nelson Mandela guidance during his 27-year imprisonment.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Modern Relevance: Stoicism and Psychology</a:t>
            </a:r>
          </a:p>
        </p:txBody>
      </p:sp>
      <p:sp>
        <p:nvSpPr>
          <p:cNvPr id="3" name="Content Placeholder 2"/>
          <p:cNvSpPr>
            <a:spLocks noGrp="1"/>
          </p:cNvSpPr>
          <p:nvPr>
            <p:ph idx="1"/>
          </p:nvPr>
        </p:nvSpPr>
        <p:spPr/>
        <p:txBody>
          <a:bodyPr/>
          <a:lstStyle/>
          <a:p>
            <a:r>
              <a:t>Stoic principles form the bedrock of several highly effective modern therapeutic approaches.</a:t>
            </a:r>
          </a:p>
          <a:p>
            <a:pPr lvl="1"/>
            <a:r>
              <a:t>Influence on Rational Emotive Behavioral Therapy (REBT): Focuses on challenging irrational beliefs (judgments).</a:t>
            </a:r>
          </a:p>
          <a:p>
            <a:pPr lvl="1"/>
            <a:r>
              <a:t>Connection to Viktor Frankl's Logotherapy: Finding meaning even in unavoidable suffering.</a:t>
            </a:r>
          </a:p>
          <a:p>
            <a:pPr lvl="1"/>
            <a:r>
              <a:t>The focus on emotional resilience aligns with modern cognitive behavioral strategies.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Starting Your Stoic Practice Today</a:t>
            </a:r>
          </a:p>
        </p:txBody>
      </p:sp>
      <p:sp>
        <p:nvSpPr>
          <p:cNvPr id="3" name="Content Placeholder 2"/>
          <p:cNvSpPr>
            <a:spLocks noGrp="1"/>
          </p:cNvSpPr>
          <p:nvPr>
            <p:ph idx="1"/>
          </p:nvPr>
        </p:nvSpPr>
        <p:spPr/>
        <p:txBody>
          <a:bodyPr/>
          <a:lstStyle/>
          <a:p>
            <a:r>
              <a:t>Stoicism is a discipline requiring constant, conscious effort to align actions with virtue and reason.</a:t>
            </a:r>
          </a:p>
          <a:p>
            <a:pPr lvl="1"/>
            <a:r>
              <a:t>Practice 'Premeditatio Malorum' (premeditation of future troubles) to prepare rationally.</a:t>
            </a:r>
          </a:p>
          <a:p>
            <a:pPr lvl="1"/>
            <a:r>
              <a:t>Journal daily: Reflect on where you succeeded and failed in applying the virtues.</a:t>
            </a:r>
          </a:p>
          <a:p>
            <a:pPr lvl="1"/>
            <a:r>
              <a:t>Focus daily on the Dichotomy of Control—direct energy only where you have influence.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